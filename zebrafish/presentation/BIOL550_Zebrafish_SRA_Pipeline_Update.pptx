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40"/>
  </p:normalViewPr>
  <p:slideViewPr>
    <p:cSldViewPr snapToGrid="0" snapToObjects="1">
      <p:cViewPr varScale="1">
        <p:scale>
          <a:sx n="116" d="100"/>
          <a:sy n="116" d="100"/>
        </p:scale>
        <p:origin x="171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99919"/>
            <a:ext cx="7772400" cy="1470025"/>
          </a:xfrm>
        </p:spPr>
        <p:txBody>
          <a:bodyPr>
            <a:normAutofit fontScale="90000"/>
          </a:bodyPr>
          <a:lstStyle/>
          <a:p>
            <a:r>
              <a:rPr b="1" dirty="0"/>
              <a:t>Zebrafish RNA-seq: SRA Download + QC </a:t>
            </a:r>
            <a:r>
              <a:rPr lang="en-US" b="1" dirty="0"/>
              <a:t>Work &amp; </a:t>
            </a:r>
            <a:r>
              <a:rPr b="1" dirty="0"/>
              <a:t>Automation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183656"/>
            <a:ext cx="7772399" cy="1752600"/>
          </a:xfrm>
        </p:spPr>
        <p:txBody>
          <a:bodyPr>
            <a:normAutofit/>
          </a:bodyPr>
          <a:lstStyle/>
          <a:p>
            <a:r>
              <a:rPr dirty="0"/>
              <a:t>BIOL550 Group Update • PRJNA1277581 • Feb 2</a:t>
            </a:r>
            <a:r>
              <a:rPr lang="en-US" dirty="0"/>
              <a:t>5</a:t>
            </a:r>
            <a:r>
              <a:rPr dirty="0"/>
              <a:t>, 2026</a:t>
            </a:r>
          </a:p>
          <a:p>
            <a:r>
              <a:rPr dirty="0"/>
              <a:t>Team: Piter Garcia • Samuel </a:t>
            </a:r>
            <a:r>
              <a:rPr dirty="0" err="1"/>
              <a:t>Kopelev</a:t>
            </a:r>
            <a:r>
              <a:rPr dirty="0"/>
              <a:t> • </a:t>
            </a:r>
            <a:r>
              <a:rPr dirty="0" err="1"/>
              <a:t>Nikhi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Workflow overvie</a:t>
            </a:r>
            <a:r>
              <a:rPr lang="en-US" dirty="0"/>
              <a:t>w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>
            <a:off x="218130" y="286548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Learn SRA tools</a:t>
            </a:r>
          </a:p>
          <a:p>
            <a:pPr algn="ctr">
              <a:defRPr sz="1400"/>
            </a:pPr>
            <a:r>
              <a:rPr dirty="0">
                <a:solidFill>
                  <a:schemeClr val="tx1"/>
                </a:solidFill>
              </a:rPr>
              <a:t>prefetch, dump, </a:t>
            </a:r>
            <a:r>
              <a:rPr dirty="0" err="1">
                <a:solidFill>
                  <a:schemeClr val="tx1"/>
                </a:solidFill>
              </a:rPr>
              <a:t>gzip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FastQC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35650" y="286548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Validate manually</a:t>
            </a:r>
          </a:p>
          <a:p>
            <a:pPr algn="ctr">
              <a:defRPr sz="1400"/>
            </a:pPr>
            <a:r>
              <a:rPr dirty="0">
                <a:solidFill>
                  <a:schemeClr val="tx1"/>
                </a:solidFill>
              </a:rPr>
              <a:t>single SRR tests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log everything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53170" y="286548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tx1"/>
                </a:solidFill>
              </a:rPr>
              <a:t>Organize shared data</a:t>
            </a:r>
          </a:p>
          <a:p>
            <a:pPr algn="ctr">
              <a:defRPr sz="1400"/>
            </a:pPr>
            <a:r>
              <a:rPr>
                <a:solidFill>
                  <a:schemeClr val="tx1"/>
                </a:solidFill>
              </a:rPr>
              <a:t>sra_runs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fastqc_out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fastx_out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8130" y="441996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chemeClr val="tx1"/>
                </a:solidFill>
              </a:rPr>
              <a:t>Split run IDs</a:t>
            </a:r>
          </a:p>
          <a:p>
            <a:pPr algn="ctr">
              <a:defRPr sz="1400"/>
            </a:pPr>
            <a:r>
              <a:rPr>
                <a:solidFill>
                  <a:schemeClr val="tx1"/>
                </a:solidFill>
              </a:rPr>
              <a:t>10 SRRs / member</a:t>
            </a:r>
            <a:br>
              <a:rPr>
                <a:solidFill>
                  <a:schemeClr val="tx1"/>
                </a:solidFill>
              </a:rPr>
            </a:br>
            <a:r>
              <a:rPr>
                <a:solidFill>
                  <a:schemeClr val="tx1"/>
                </a:solidFill>
              </a:rPr>
              <a:t>reproducible lists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35650" y="441996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Automate pipeline</a:t>
            </a:r>
          </a:p>
          <a:p>
            <a:pPr algn="ctr">
              <a:defRPr sz="1400"/>
            </a:pPr>
            <a:r>
              <a:rPr dirty="0">
                <a:solidFill>
                  <a:schemeClr val="tx1"/>
                </a:solidFill>
              </a:rPr>
              <a:t>2 jobs in parallel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1 SRR 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3170" y="4419966"/>
            <a:ext cx="2651760" cy="914400"/>
          </a:xfrm>
          <a:prstGeom prst="roundRect">
            <a:avLst/>
          </a:prstGeom>
          <a:solidFill>
            <a:srgbClr val="F5F7FA"/>
          </a:solidFill>
          <a:ln>
            <a:solidFill>
              <a:srgbClr val="5050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 dirty="0">
                <a:solidFill>
                  <a:schemeClr val="tx1"/>
                </a:solidFill>
              </a:rPr>
              <a:t>Deliverables + analysis</a:t>
            </a:r>
          </a:p>
          <a:p>
            <a:pPr algn="ctr">
              <a:defRPr sz="1400"/>
            </a:pPr>
            <a:r>
              <a:rPr dirty="0">
                <a:solidFill>
                  <a:schemeClr val="tx1"/>
                </a:solidFill>
              </a:rPr>
              <a:t>QC review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alignment / DE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69890" y="3322686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887410" y="3322686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69890" y="4877166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887410" y="4877166"/>
            <a:ext cx="365760" cy="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544010" y="3779886"/>
            <a:ext cx="6035040" cy="640080"/>
          </a:xfrm>
          <a:prstGeom prst="line">
            <a:avLst/>
          </a:prstGeom>
          <a:ln w="25400">
            <a:solidFill>
              <a:srgbClr val="505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Learn the SRA Toolkit workflow (prefetch → dump → </a:t>
            </a:r>
            <a:r>
              <a:rPr dirty="0" err="1"/>
              <a:t>gzip</a:t>
            </a:r>
            <a:r>
              <a:rPr dirty="0"/>
              <a:t>) and validate on small tests</a:t>
            </a:r>
          </a:p>
          <a:p>
            <a:pPr>
              <a:defRPr sz="2200"/>
            </a:pPr>
            <a:r>
              <a:rPr dirty="0"/>
              <a:t>Implement and test the workflow following the course guide conventions (paired-end, reproducible logs)</a:t>
            </a:r>
          </a:p>
          <a:p>
            <a:pPr>
              <a:defRPr sz="2200"/>
            </a:pPr>
            <a:r>
              <a:rPr dirty="0"/>
              <a:t>Automate with a minimal pipeline (sequential runs, resumable, easy monitoring)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 </a:t>
            </a:r>
            <a:r>
              <a:rPr lang="en-US" dirty="0"/>
              <a:t>M</a:t>
            </a:r>
            <a:r>
              <a:rPr dirty="0"/>
              <a:t>anagement / </a:t>
            </a:r>
            <a:r>
              <a:rPr lang="en-US" dirty="0"/>
              <a:t>O</a:t>
            </a:r>
            <a:r>
              <a:rPr dirty="0"/>
              <a:t>rganization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71301"/>
            <a:ext cx="8229600" cy="15388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Shared directories (Sequoia)</a:t>
            </a:r>
          </a:p>
          <a:p>
            <a:pPr>
              <a:defRPr sz="1800"/>
            </a:pPr>
            <a:r>
              <a:rPr dirty="0"/>
              <a:t>/home/zebrafish/</a:t>
            </a:r>
            <a:r>
              <a:rPr dirty="0" err="1"/>
              <a:t>sra_runs</a:t>
            </a:r>
            <a:r>
              <a:rPr dirty="0"/>
              <a:t> (flat SRR*_1/_2.fastq.gz)</a:t>
            </a:r>
          </a:p>
          <a:p>
            <a:pPr>
              <a:defRPr sz="1800"/>
            </a:pPr>
            <a:r>
              <a:rPr dirty="0"/>
              <a:t>/home/zebrafish/</a:t>
            </a:r>
            <a:r>
              <a:rPr dirty="0" err="1"/>
              <a:t>fastqc_out</a:t>
            </a:r>
            <a:r>
              <a:rPr dirty="0"/>
              <a:t> (FastQC html/zip)</a:t>
            </a:r>
          </a:p>
          <a:p>
            <a:pPr>
              <a:defRPr sz="1800"/>
            </a:pPr>
            <a:r>
              <a:rPr dirty="0"/>
              <a:t>/home/zebrafish/</a:t>
            </a:r>
            <a:r>
              <a:rPr dirty="0" err="1"/>
              <a:t>fastx_out</a:t>
            </a:r>
            <a:r>
              <a:rPr dirty="0"/>
              <a:t> (optional trimmed outputs)</a:t>
            </a:r>
          </a:p>
          <a:p>
            <a:pPr>
              <a:defRPr sz="1800"/>
            </a:pPr>
            <a:r>
              <a:rPr dirty="0"/>
              <a:t>/home/zebrafish/</a:t>
            </a:r>
            <a:r>
              <a:rPr dirty="0" err="1"/>
              <a:t>split_run_ids</a:t>
            </a:r>
            <a:r>
              <a:rPr dirty="0"/>
              <a:t> (per-member SRR lists)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217257"/>
            <a:ext cx="832104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dirty="0"/>
              <a:t>Run allocation</a:t>
            </a:r>
          </a:p>
          <a:p>
            <a:pPr>
              <a:defRPr sz="1800"/>
            </a:pPr>
            <a:r>
              <a:rPr dirty="0"/>
              <a:t>Split the 30 SRRs evenly (10 per member)</a:t>
            </a:r>
          </a:p>
          <a:p>
            <a:pPr>
              <a:defRPr sz="1800"/>
            </a:pPr>
            <a:r>
              <a:rPr dirty="0"/>
              <a:t>Each member validates the SRA tools on a small test before automation</a:t>
            </a:r>
          </a:p>
          <a:p>
            <a:pPr>
              <a:defRPr sz="1800"/>
            </a:pPr>
            <a:r>
              <a:rPr dirty="0"/>
              <a:t>Keep outputs group-accessible; keep pipeline state/logs in user home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Pipeline Tools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11226" y="1628292"/>
            <a:ext cx="8521547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SRA download + dump (server install)</a:t>
            </a:r>
          </a:p>
          <a:p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usr</a:t>
            </a:r>
            <a:r>
              <a:rPr sz="1200" dirty="0">
                <a:latin typeface="Courier New"/>
              </a:rPr>
              <a:t>/local/bin/sra_3.0.0/prefetch.3.0.0 -O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sra</a:t>
            </a:r>
            <a:r>
              <a:rPr sz="1200" dirty="0">
                <a:latin typeface="Courier New"/>
              </a:rPr>
              <a:t> SRR34002437</a:t>
            </a:r>
            <a:br>
              <a:rPr sz="1200" dirty="0"/>
            </a:b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usr</a:t>
            </a:r>
            <a:r>
              <a:rPr sz="1200" dirty="0">
                <a:latin typeface="Courier New"/>
              </a:rPr>
              <a:t>/local/bin/sra_3.0.0/fasterq-dump-orig.3.0.0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sra</a:t>
            </a:r>
            <a:r>
              <a:rPr sz="1200" dirty="0">
                <a:latin typeface="Courier New"/>
              </a:rPr>
              <a:t>/SRR34002437/SRR34002437.sra --split-files --threads 1 -O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fastq</a:t>
            </a:r>
            <a:r>
              <a:rPr sz="1200" dirty="0">
                <a:latin typeface="Courier New"/>
              </a:rPr>
              <a:t> --temp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tmp</a:t>
            </a:r>
            <a:br>
              <a:rPr sz="1200" dirty="0"/>
            </a:br>
            <a:r>
              <a:rPr sz="1200" dirty="0" err="1">
                <a:latin typeface="Courier New"/>
              </a:rPr>
              <a:t>gzip</a:t>
            </a:r>
            <a:r>
              <a:rPr sz="1200" dirty="0">
                <a:latin typeface="Courier New"/>
              </a:rPr>
              <a:t> -f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fastq</a:t>
            </a:r>
            <a:r>
              <a:rPr sz="1200" dirty="0">
                <a:latin typeface="Courier New"/>
              </a:rPr>
              <a:t>/SRR34002437_1.fastq /</a:t>
            </a:r>
            <a:r>
              <a:rPr sz="1200" dirty="0" err="1">
                <a:latin typeface="Courier New"/>
              </a:rPr>
              <a:t>tmp</a:t>
            </a:r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fastq</a:t>
            </a:r>
            <a:r>
              <a:rPr sz="1200" dirty="0">
                <a:latin typeface="Courier New"/>
              </a:rPr>
              <a:t>/SRR34002437_2.fastq</a:t>
            </a:r>
          </a:p>
          <a:p>
            <a:pPr>
              <a:defRPr sz="1400"/>
            </a:pPr>
            <a:r>
              <a:rPr dirty="0"/>
              <a:t>We use </a:t>
            </a:r>
            <a:r>
              <a:rPr dirty="0" err="1"/>
              <a:t>fasterq</a:t>
            </a:r>
            <a:r>
              <a:rPr dirty="0"/>
              <a:t>-dump when we want lower wall-clock time and can tolerate temporary uncompressed FASTQs; we keep threads low to avoid I/O contention.</a:t>
            </a:r>
          </a:p>
          <a:p>
            <a:endParaRPr dirty="0"/>
          </a:p>
          <a:p>
            <a:r>
              <a:rPr sz="1800" b="1" dirty="0"/>
              <a:t>FastQC (paired-end)</a:t>
            </a:r>
          </a:p>
          <a:p>
            <a:r>
              <a:rPr sz="1200" dirty="0">
                <a:latin typeface="Courier New"/>
              </a:rPr>
              <a:t>/</a:t>
            </a:r>
            <a:r>
              <a:rPr sz="1200" dirty="0" err="1">
                <a:latin typeface="Courier New"/>
              </a:rPr>
              <a:t>usr</a:t>
            </a:r>
            <a:r>
              <a:rPr sz="1200" dirty="0">
                <a:latin typeface="Courier New"/>
              </a:rPr>
              <a:t>/local/bin/FASTQC_11.9/</a:t>
            </a:r>
            <a:r>
              <a:rPr sz="1200" dirty="0" err="1">
                <a:latin typeface="Courier New"/>
              </a:rPr>
              <a:t>fastqc</a:t>
            </a:r>
            <a:r>
              <a:rPr sz="1200" dirty="0">
                <a:latin typeface="Courier New"/>
              </a:rPr>
              <a:t> -t 1 -o /home/zebrafish/</a:t>
            </a:r>
            <a:r>
              <a:rPr sz="1200" dirty="0" err="1">
                <a:latin typeface="Courier New"/>
              </a:rPr>
              <a:t>fastqc_out</a:t>
            </a:r>
            <a:r>
              <a:rPr sz="1200" dirty="0">
                <a:latin typeface="Courier New"/>
              </a:rPr>
              <a:t> \</a:t>
            </a:r>
            <a:br>
              <a:rPr sz="1200" dirty="0"/>
            </a:br>
            <a:r>
              <a:rPr sz="1200" dirty="0">
                <a:latin typeface="Courier New"/>
              </a:rPr>
              <a:t>/home/zebrafish/</a:t>
            </a:r>
            <a:r>
              <a:rPr sz="1200" dirty="0" err="1">
                <a:latin typeface="Courier New"/>
              </a:rPr>
              <a:t>sra_runs</a:t>
            </a:r>
            <a:r>
              <a:rPr sz="1200" dirty="0">
                <a:latin typeface="Courier New"/>
              </a:rPr>
              <a:t>/SRR34002437_1.fastq.gz /home/zebrafish/</a:t>
            </a:r>
            <a:r>
              <a:rPr sz="1200" dirty="0" err="1">
                <a:latin typeface="Courier New"/>
              </a:rPr>
              <a:t>sra_runs</a:t>
            </a:r>
            <a:r>
              <a:rPr sz="1200" dirty="0">
                <a:latin typeface="Courier New"/>
              </a:rPr>
              <a:t>/SRR34002437_2.fastq.gz</a:t>
            </a:r>
          </a:p>
          <a:p>
            <a:pPr>
              <a:defRPr sz="1400"/>
            </a:pPr>
            <a:r>
              <a:rPr dirty="0"/>
              <a:t>FastQC runs as a separate worker so QC overlaps with the next download. Outputs are HTML + ZIP per mate.</a:t>
            </a:r>
          </a:p>
          <a:p>
            <a:endParaRPr dirty="0"/>
          </a:p>
          <a:p>
            <a:r>
              <a:rPr sz="1800" b="1" dirty="0"/>
              <a:t>Trimming (FASTX example)</a:t>
            </a:r>
          </a:p>
          <a:p>
            <a:r>
              <a:rPr sz="1200" dirty="0" err="1">
                <a:latin typeface="Courier New"/>
              </a:rPr>
              <a:t>mkdir</a:t>
            </a:r>
            <a:r>
              <a:rPr sz="1200" dirty="0">
                <a:latin typeface="Courier New"/>
              </a:rPr>
              <a:t> -p /home/zebrafish/</a:t>
            </a:r>
            <a:r>
              <a:rPr sz="1200" dirty="0" err="1">
                <a:latin typeface="Courier New"/>
              </a:rPr>
              <a:t>fastx_out</a:t>
            </a:r>
            <a:br>
              <a:rPr sz="1200" dirty="0"/>
            </a:br>
            <a:r>
              <a:rPr sz="1200" dirty="0" err="1">
                <a:latin typeface="Courier New"/>
              </a:rPr>
              <a:t>zcat</a:t>
            </a:r>
            <a:r>
              <a:rPr sz="1200" dirty="0">
                <a:latin typeface="Courier New"/>
              </a:rPr>
              <a:t> /home/zebrafish/</a:t>
            </a:r>
            <a:r>
              <a:rPr sz="1200" dirty="0" err="1">
                <a:latin typeface="Courier New"/>
              </a:rPr>
              <a:t>sra_runs</a:t>
            </a:r>
            <a:r>
              <a:rPr sz="1200" dirty="0">
                <a:latin typeface="Courier New"/>
              </a:rPr>
              <a:t>/SRR34002437_1.fastq.gz | </a:t>
            </a:r>
            <a:r>
              <a:rPr sz="1200" dirty="0" err="1">
                <a:latin typeface="Courier New"/>
              </a:rPr>
              <a:t>fastx_trimmer</a:t>
            </a:r>
            <a:r>
              <a:rPr sz="1200" dirty="0">
                <a:latin typeface="Courier New"/>
              </a:rPr>
              <a:t> -Q33 -f 1 -l 150 | </a:t>
            </a:r>
            <a:r>
              <a:rPr sz="1200" dirty="0" err="1">
                <a:latin typeface="Courier New"/>
              </a:rPr>
              <a:t>gzip</a:t>
            </a:r>
            <a:r>
              <a:rPr sz="1200" dirty="0">
                <a:latin typeface="Courier New"/>
              </a:rPr>
              <a:t> -c &gt; /home/zebrafish/</a:t>
            </a:r>
            <a:r>
              <a:rPr sz="1200" dirty="0" err="1">
                <a:latin typeface="Courier New"/>
              </a:rPr>
              <a:t>fastx_out</a:t>
            </a:r>
            <a:r>
              <a:rPr sz="1200" dirty="0">
                <a:latin typeface="Courier New"/>
              </a:rPr>
              <a:t>/SRR34002437_1.trim.fastq.gz</a:t>
            </a:r>
          </a:p>
          <a:p>
            <a:pPr>
              <a:defRPr sz="1400"/>
            </a:pPr>
            <a:r>
              <a:rPr dirty="0"/>
              <a:t>Trimming is optional and runs after raw QC; it produces separate trimmed outputs so raw FASTQs remain unchanged.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fasterq-dump vs fastq-dump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 err="1"/>
              <a:t>fasterq</a:t>
            </a:r>
            <a:r>
              <a:rPr dirty="0"/>
              <a:t>-dump: faster conversion and supports threading; good for reducing total wall-clock time on the server</a:t>
            </a:r>
          </a:p>
          <a:p>
            <a:pPr>
              <a:defRPr sz="2200"/>
            </a:pPr>
            <a:r>
              <a:rPr dirty="0"/>
              <a:t>Tradeoff: writes large uncompressed FASTQs temporarily, so it needs more scratch space and disk I/O</a:t>
            </a:r>
          </a:p>
          <a:p>
            <a:pPr>
              <a:defRPr sz="2200"/>
            </a:pPr>
            <a:r>
              <a:rPr dirty="0" err="1"/>
              <a:t>fastq</a:t>
            </a:r>
            <a:r>
              <a:rPr dirty="0"/>
              <a:t>-dump --</a:t>
            </a:r>
            <a:r>
              <a:rPr dirty="0" err="1"/>
              <a:t>gzip</a:t>
            </a:r>
            <a:r>
              <a:rPr dirty="0"/>
              <a:t>: lower temporary disk footprint (writes .</a:t>
            </a:r>
            <a:r>
              <a:rPr dirty="0" err="1"/>
              <a:t>fastq.gz</a:t>
            </a:r>
            <a:r>
              <a:rPr dirty="0"/>
              <a:t> directly) but often slower</a:t>
            </a:r>
          </a:p>
          <a:p>
            <a:pPr>
              <a:defRPr sz="2200"/>
            </a:pPr>
            <a:r>
              <a:rPr dirty="0"/>
              <a:t>We choose based on constraints: server speed vs laptop disk limits, while keeping 1 SRR at a time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Pipeline </a:t>
            </a:r>
            <a:r>
              <a:rPr lang="en-US" dirty="0"/>
              <a:t>D</a:t>
            </a:r>
            <a:r>
              <a:rPr dirty="0"/>
              <a:t>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Two concurrent jobs: (A) downloader for one SRR at a time, (B) FastQC worker for completed SRRs</a:t>
            </a:r>
          </a:p>
          <a:p>
            <a:pPr>
              <a:defRPr sz="2200"/>
            </a:pPr>
            <a:r>
              <a:rPr dirty="0"/>
              <a:t>Sequential processing to avoid failures and simplify resume (skip-if-exists semantics)</a:t>
            </a:r>
          </a:p>
          <a:p>
            <a:pPr>
              <a:defRPr sz="2200"/>
            </a:pPr>
            <a:r>
              <a:rPr dirty="0"/>
              <a:t>Low thread counts to reduce contention; throughput is typically limited by network + disk I/O</a:t>
            </a:r>
          </a:p>
          <a:p>
            <a:pPr>
              <a:defRPr sz="2200"/>
            </a:pPr>
            <a:r>
              <a:rPr dirty="0"/>
              <a:t>Optional trimming step runs after raw QC and writes to </a:t>
            </a:r>
            <a:r>
              <a:rPr dirty="0" err="1"/>
              <a:t>fastx_out</a:t>
            </a:r>
            <a:r>
              <a:rPr dirty="0"/>
              <a:t> without overwriting raw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 </a:t>
            </a:r>
            <a:r>
              <a:rPr dirty="0"/>
              <a:t>Status </a:t>
            </a:r>
            <a:r>
              <a:rPr lang="en-US" dirty="0"/>
              <a:t>&amp;</a:t>
            </a:r>
            <a:r>
              <a:rPr dirty="0"/>
              <a:t> </a:t>
            </a:r>
            <a:r>
              <a:rPr lang="en-US" dirty="0"/>
              <a:t>N</a:t>
            </a:r>
            <a:r>
              <a:rPr dirty="0"/>
              <a:t>ext </a:t>
            </a:r>
            <a:r>
              <a:rPr lang="en-US" dirty="0"/>
              <a:t>S</a:t>
            </a:r>
            <a:r>
              <a:rPr dirty="0"/>
              <a:t>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dirty="0"/>
              <a:t>All assigned SRRs downloaded as paired </a:t>
            </a:r>
            <a:r>
              <a:rPr dirty="0" err="1"/>
              <a:t>FASTQ.gz</a:t>
            </a:r>
            <a:r>
              <a:rPr dirty="0"/>
              <a:t> into the shared run directory</a:t>
            </a:r>
          </a:p>
          <a:p>
            <a:pPr>
              <a:defRPr sz="2200"/>
            </a:pPr>
            <a:r>
              <a:rPr dirty="0"/>
              <a:t>FastQC completed for all runs; QC summaries reviewed for obvious issues</a:t>
            </a:r>
          </a:p>
          <a:p>
            <a:pPr>
              <a:defRPr sz="2200"/>
            </a:pPr>
            <a:r>
              <a:rPr dirty="0"/>
              <a:t>Optional: run trimming and re-QC if needed (</a:t>
            </a:r>
            <a:r>
              <a:rPr dirty="0" err="1"/>
              <a:t>fastx_out</a:t>
            </a:r>
            <a:r>
              <a:rPr dirty="0"/>
              <a:t> kept separate from raw)</a:t>
            </a:r>
          </a:p>
          <a:p>
            <a:pPr>
              <a:defRPr sz="2200"/>
            </a:pPr>
            <a:r>
              <a:rPr dirty="0"/>
              <a:t>Begin downstream analysis: alignment/quantification and differential expression workflow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752</Words>
  <Application>Microsoft Macintosh PowerPoint</Application>
  <PresentationFormat>On-screen Show (4:3)</PresentationFormat>
  <Paragraphs>57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Courier New</vt:lpstr>
      <vt:lpstr>Office Theme</vt:lpstr>
      <vt:lpstr>Zebrafish RNA-seq: SRA Download + QC Work &amp; Automation</vt:lpstr>
      <vt:lpstr>Workflow overview</vt:lpstr>
      <vt:lpstr>Approach</vt:lpstr>
      <vt:lpstr>Data Management / Organization</vt:lpstr>
      <vt:lpstr>Pipeline Tools</vt:lpstr>
      <vt:lpstr>Why fasterq-dump vs fastq-dump</vt:lpstr>
      <vt:lpstr>Pipeline Design</vt:lpstr>
      <vt:lpstr>Work Status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Piter Garcia</cp:lastModifiedBy>
  <cp:revision>2</cp:revision>
  <dcterms:created xsi:type="dcterms:W3CDTF">2013-01-27T09:14:16Z</dcterms:created>
  <dcterms:modified xsi:type="dcterms:W3CDTF">2026-02-24T23:50:26Z</dcterms:modified>
  <cp:category/>
</cp:coreProperties>
</file>